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6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권희 이" userId="0e100567d4cd101a" providerId="LiveId" clId="{814007B5-BADF-4EBD-A4BF-C262B51A5A32}"/>
    <pc:docChg chg="modSld">
      <pc:chgData name="권희 이" userId="0e100567d4cd101a" providerId="LiveId" clId="{814007B5-BADF-4EBD-A4BF-C262B51A5A32}" dt="2026-09-20T13:01:05.190" v="2" actId="2711"/>
      <pc:docMkLst>
        <pc:docMk/>
      </pc:docMkLst>
      <pc:sldChg chg="modSp mod">
        <pc:chgData name="권희 이" userId="0e100567d4cd101a" providerId="LiveId" clId="{814007B5-BADF-4EBD-A4BF-C262B51A5A32}" dt="2026-09-20T13:01:05.190" v="2" actId="2711"/>
        <pc:sldMkLst>
          <pc:docMk/>
          <pc:sldMk cId="584967628" sldId="258"/>
        </pc:sldMkLst>
        <pc:spChg chg="mod">
          <ac:chgData name="권희 이" userId="0e100567d4cd101a" providerId="LiveId" clId="{814007B5-BADF-4EBD-A4BF-C262B51A5A32}" dt="2026-09-20T13:01:05.190" v="2" actId="2711"/>
          <ac:spMkLst>
            <pc:docMk/>
            <pc:sldMk cId="584967628" sldId="258"/>
            <ac:spMk id="2" creationId="{7A3DCF90-5632-DC52-50C0-E8FBE283AD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33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1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3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8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24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88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328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44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72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58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85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FAD706D-6B34-4C92-888C-4BBB8F268D13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3A97E-A1A2-4FE8-BB99-A91197116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94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A81D5AB5-8AB0-471D-A638-4F9A465EDC3D}"/>
              </a:ext>
            </a:extLst>
          </p:cNvPr>
          <p:cNvSpPr txBox="1">
            <a:spLocks/>
          </p:cNvSpPr>
          <p:nvPr/>
        </p:nvSpPr>
        <p:spPr>
          <a:xfrm>
            <a:off x="872611" y="2829653"/>
            <a:ext cx="10142290" cy="27922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400" dirty="0">
                <a:latin typeface="+mj-ea"/>
                <a:ea typeface="+mj-ea"/>
              </a:rPr>
              <a:t>반도체 </a:t>
            </a:r>
            <a:r>
              <a:rPr lang="ko-KR" altLang="en-US" sz="4400" dirty="0" err="1">
                <a:latin typeface="+mj-ea"/>
                <a:ea typeface="+mj-ea"/>
              </a:rPr>
              <a:t>소부장</a:t>
            </a:r>
            <a:r>
              <a:rPr lang="ko-KR" altLang="en-US" sz="4400" dirty="0">
                <a:latin typeface="+mj-ea"/>
                <a:ea typeface="+mj-ea"/>
              </a:rPr>
              <a:t> 기업 정리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63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7A3DCF90-5632-DC52-50C0-E8FBE283ADE6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ko-KR" altLang="en-US" sz="2800" b="1" dirty="0">
                <a:latin typeface="+mj-ea"/>
                <a:ea typeface="+mj-ea"/>
              </a:rPr>
              <a:t>웨이퍼 제조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ko-KR" altLang="en-US" sz="2800" b="1" dirty="0">
                <a:latin typeface="+mj-ea"/>
                <a:ea typeface="+mj-ea"/>
              </a:rPr>
              <a:t>기판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altLang="ko-KR" sz="2800" b="1" dirty="0">
                <a:latin typeface="+mj-ea"/>
                <a:ea typeface="+mj-ea"/>
              </a:rPr>
              <a:t>SK</a:t>
            </a:r>
            <a:r>
              <a:rPr lang="ko-KR" altLang="en-US" sz="2800" b="1" dirty="0" err="1">
                <a:latin typeface="+mj-ea"/>
                <a:ea typeface="+mj-ea"/>
              </a:rPr>
              <a:t>실트론</a:t>
            </a:r>
            <a:r>
              <a:rPr lang="ko-KR" altLang="en-US" sz="2800" b="1" dirty="0">
                <a:latin typeface="+mj-ea"/>
                <a:ea typeface="+mj-ea"/>
              </a:rPr>
              <a:t> 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j-ea"/>
                <a:ea typeface="+mj-ea"/>
              </a:rPr>
              <a:t>국내 유일 웨이퍼 생사 기업</a:t>
            </a:r>
            <a:r>
              <a:rPr lang="en-US" altLang="ko-KR" sz="2800" dirty="0">
                <a:latin typeface="+mj-ea"/>
                <a:ea typeface="+mj-ea"/>
              </a:rPr>
              <a:t>(</a:t>
            </a:r>
            <a:r>
              <a:rPr lang="ko-KR" altLang="en-US" sz="2800" dirty="0">
                <a:latin typeface="+mj-ea"/>
                <a:ea typeface="+mj-ea"/>
              </a:rPr>
              <a:t>최근 두산으로 매각 진행 중</a:t>
            </a:r>
            <a:r>
              <a:rPr lang="en-US" altLang="ko-KR" sz="2800" dirty="0">
                <a:latin typeface="+mj-ea"/>
                <a:ea typeface="+mj-ea"/>
              </a:rPr>
              <a:t>)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티씨케이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j-ea"/>
                <a:ea typeface="+mj-ea"/>
              </a:rPr>
              <a:t>웨이퍼 가공용 </a:t>
            </a:r>
            <a:r>
              <a:rPr lang="en-US" altLang="ko-KR" sz="2800" dirty="0" err="1">
                <a:latin typeface="+mj-ea"/>
                <a:ea typeface="+mj-ea"/>
              </a:rPr>
              <a:t>SiC</a:t>
            </a:r>
            <a:r>
              <a:rPr lang="ko-KR" altLang="en-US" sz="2800" dirty="0">
                <a:latin typeface="+mj-ea"/>
                <a:ea typeface="+mj-ea"/>
              </a:rPr>
              <a:t>링</a:t>
            </a:r>
            <a:r>
              <a:rPr lang="en-US" altLang="ko-KR" sz="2800" dirty="0">
                <a:latin typeface="+mj-ea"/>
                <a:ea typeface="+mj-ea"/>
              </a:rPr>
              <a:t>, </a:t>
            </a:r>
            <a:r>
              <a:rPr lang="ko-KR" altLang="en-US" sz="2800" dirty="0">
                <a:latin typeface="+mj-ea"/>
                <a:ea typeface="+mj-ea"/>
              </a:rPr>
              <a:t>전극 등 소모성 부품 </a:t>
            </a:r>
            <a:br>
              <a:rPr lang="en-US" altLang="ko-KR" sz="2800" b="1" dirty="0">
                <a:latin typeface="+mj-ea"/>
                <a:ea typeface="+mj-ea"/>
              </a:rPr>
            </a:br>
            <a:endParaRPr lang="en-US" altLang="ko-KR" sz="2800" b="1" dirty="0">
              <a:latin typeface="+mj-ea"/>
              <a:ea typeface="+mj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+mn-ea"/>
              </a:rPr>
              <a:t>웨이퍼 원판은 일본 </a:t>
            </a:r>
            <a:r>
              <a:rPr lang="ko-KR" altLang="en-US" sz="2800" dirty="0" err="1">
                <a:latin typeface="+mn-ea"/>
              </a:rPr>
              <a:t>신에쓰</a:t>
            </a:r>
            <a:r>
              <a:rPr lang="en-US" altLang="ko-KR" sz="2800" dirty="0">
                <a:latin typeface="+mn-ea"/>
              </a:rPr>
              <a:t>·SUMCO</a:t>
            </a:r>
            <a:r>
              <a:rPr lang="ko-KR" altLang="en-US" sz="2800" dirty="0">
                <a:latin typeface="+mn-ea"/>
              </a:rPr>
              <a:t>가 과점</a:t>
            </a:r>
            <a:r>
              <a:rPr lang="en-US" altLang="ko-KR" sz="2800" dirty="0">
                <a:latin typeface="+mn-ea"/>
              </a:rPr>
              <a:t>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+mn-ea"/>
              </a:rPr>
              <a:t>한국은 소모품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부품 영역에 집중</a:t>
            </a:r>
            <a:endParaRPr lang="en-US" altLang="ko-KR" sz="28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endParaRPr lang="en-US" altLang="ko-KR" b="1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endParaRPr lang="en-US" altLang="ko-KR" b="1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endParaRPr lang="en-US" altLang="ko-KR" b="1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endParaRPr lang="en-US" altLang="ko-KR" dirty="0">
              <a:latin typeface="+mj-ea"/>
            </a:endParaRPr>
          </a:p>
          <a:p>
            <a:pPr algn="l">
              <a:lnSpc>
                <a:spcPct val="150000"/>
              </a:lnSpc>
            </a:pPr>
            <a:endParaRPr lang="en-US" altLang="ko-KR" dirty="0">
              <a:latin typeface="+mj-ea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endParaRPr lang="en-US" altLang="ko-KR" dirty="0">
              <a:latin typeface="+mj-ea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endParaRPr lang="en-US" altLang="ko-KR" dirty="0">
              <a:latin typeface="+mj-ea"/>
            </a:endParaRPr>
          </a:p>
          <a:p>
            <a:pPr algn="l">
              <a:lnSpc>
                <a:spcPct val="150000"/>
              </a:lnSpc>
            </a:pPr>
            <a:endParaRPr lang="en-US" altLang="ko-KR" dirty="0">
              <a:latin typeface="+mj-ea"/>
            </a:endParaRPr>
          </a:p>
          <a:p>
            <a:pPr algn="l">
              <a:lnSpc>
                <a:spcPct val="150000"/>
              </a:lnSpc>
            </a:pPr>
            <a:endParaRPr lang="en-US" altLang="ko-KR" dirty="0">
              <a:latin typeface="+mj-ea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endParaRPr lang="en-US" altLang="ko-KR" dirty="0">
              <a:latin typeface="+mj-ea"/>
            </a:endParaRPr>
          </a:p>
          <a:p>
            <a:pPr algn="l">
              <a:lnSpc>
                <a:spcPct val="15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96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4EA04E-CCCE-4782-BC79-A5366ADD4D06}"/>
              </a:ext>
            </a:extLst>
          </p:cNvPr>
          <p:cNvSpPr txBox="1">
            <a:spLocks/>
          </p:cNvSpPr>
          <p:nvPr/>
        </p:nvSpPr>
        <p:spPr>
          <a:xfrm>
            <a:off x="838200" y="753533"/>
            <a:ext cx="10515600" cy="5177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br>
              <a:rPr lang="ko-KR" altLang="en-US" dirty="0"/>
            </a:br>
            <a:endParaRPr lang="en-US" altLang="ko-KR" dirty="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867E6F-2751-246D-4B32-653F1ADFB231}"/>
              </a:ext>
            </a:extLst>
          </p:cNvPr>
          <p:cNvSpPr txBox="1"/>
          <p:nvPr/>
        </p:nvSpPr>
        <p:spPr>
          <a:xfrm>
            <a:off x="838200" y="758718"/>
            <a:ext cx="10001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052648F-9D6A-333E-456D-CC5B291AE846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2. </a:t>
            </a:r>
            <a:r>
              <a:rPr lang="ko-KR" altLang="en-US" sz="2800" b="1" dirty="0">
                <a:latin typeface="+mj-ea"/>
                <a:ea typeface="+mj-ea"/>
              </a:rPr>
              <a:t>포토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ko-KR" altLang="en-US" sz="2800" b="1" dirty="0" err="1">
                <a:latin typeface="+mj-ea"/>
                <a:ea typeface="+mj-ea"/>
              </a:rPr>
              <a:t>노광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ko-KR" altLang="en-US" sz="2800" b="1" dirty="0">
                <a:latin typeface="+mj-ea"/>
                <a:ea typeface="+mj-ea"/>
              </a:rPr>
              <a:t>트랙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ko-KR" altLang="en-US" sz="2800" b="1" dirty="0">
                <a:latin typeface="+mj-ea"/>
                <a:ea typeface="+mj-ea"/>
              </a:rPr>
              <a:t>마스크</a:t>
            </a:r>
            <a:r>
              <a:rPr lang="en-US" altLang="ko-KR" sz="2800" b="1" dirty="0">
                <a:latin typeface="+mj-ea"/>
                <a:ea typeface="+mj-ea"/>
              </a:rPr>
              <a:t>) – </a:t>
            </a:r>
            <a:r>
              <a:rPr lang="ko-KR" altLang="en-US" sz="2800" b="1" dirty="0">
                <a:latin typeface="+mj-ea"/>
                <a:ea typeface="+mj-ea"/>
              </a:rPr>
              <a:t>국내 기업 진입 초기 단계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에프에스티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en-US" altLang="ko-KR" sz="2800" dirty="0">
                <a:latin typeface="+mj-ea"/>
                <a:ea typeface="+mj-ea"/>
              </a:rPr>
              <a:t>EUV </a:t>
            </a:r>
            <a:r>
              <a:rPr lang="ko-KR" altLang="en-US" sz="2800" dirty="0" err="1">
                <a:latin typeface="+mj-ea"/>
                <a:ea typeface="+mj-ea"/>
              </a:rPr>
              <a:t>펠리클</a:t>
            </a:r>
            <a:r>
              <a:rPr lang="en-US" altLang="ko-KR" sz="2800" dirty="0">
                <a:latin typeface="+mj-ea"/>
                <a:ea typeface="+mj-ea"/>
              </a:rPr>
              <a:t>(</a:t>
            </a:r>
            <a:r>
              <a:rPr lang="ko-KR" altLang="en-US" sz="2800" dirty="0" err="1">
                <a:latin typeface="+mj-ea"/>
                <a:ea typeface="+mj-ea"/>
              </a:rPr>
              <a:t>노광</a:t>
            </a:r>
            <a:r>
              <a:rPr lang="ko-KR" altLang="en-US" sz="2800" dirty="0">
                <a:latin typeface="+mj-ea"/>
                <a:ea typeface="+mj-ea"/>
              </a:rPr>
              <a:t> 마스크 보호막</a:t>
            </a:r>
            <a:r>
              <a:rPr lang="en-US" altLang="ko-KR" sz="2800" dirty="0">
                <a:latin typeface="+mj-ea"/>
                <a:ea typeface="+mj-ea"/>
              </a:rPr>
              <a:t>) </a:t>
            </a:r>
            <a:r>
              <a:rPr lang="ko-KR" altLang="en-US" sz="2800" dirty="0">
                <a:latin typeface="+mj-ea"/>
                <a:ea typeface="+mj-ea"/>
              </a:rPr>
              <a:t>국산화</a:t>
            </a:r>
            <a:r>
              <a:rPr lang="en-US" altLang="ko-KR" sz="2800" dirty="0">
                <a:latin typeface="+mj-ea"/>
                <a:ea typeface="+mj-ea"/>
              </a:rPr>
              <a:t>, </a:t>
            </a:r>
            <a:r>
              <a:rPr lang="ko-KR" altLang="en-US" sz="2800" dirty="0">
                <a:latin typeface="+mj-ea"/>
                <a:ea typeface="+mj-ea"/>
              </a:rPr>
              <a:t>트랙</a:t>
            </a:r>
            <a:r>
              <a:rPr lang="en-US" altLang="ko-KR" sz="2800" dirty="0">
                <a:latin typeface="+mj-ea"/>
                <a:ea typeface="+mj-ea"/>
              </a:rPr>
              <a:t>·</a:t>
            </a:r>
            <a:r>
              <a:rPr lang="ko-KR" altLang="en-US" sz="2800" dirty="0" err="1">
                <a:latin typeface="+mj-ea"/>
                <a:ea typeface="+mj-ea"/>
              </a:rPr>
              <a:t>스테퍼</a:t>
            </a:r>
            <a:r>
              <a:rPr lang="ko-KR" altLang="en-US" sz="2800" dirty="0">
                <a:latin typeface="+mj-ea"/>
                <a:ea typeface="+mj-ea"/>
              </a:rPr>
              <a:t> 부품</a:t>
            </a:r>
            <a:r>
              <a:rPr lang="en-US" altLang="ko-KR" sz="2800" dirty="0">
                <a:latin typeface="+mj-ea"/>
                <a:ea typeface="+mj-ea"/>
              </a:rPr>
              <a:t>. </a:t>
            </a:r>
            <a:r>
              <a:rPr lang="ko-KR" altLang="en-US" sz="2800" dirty="0">
                <a:latin typeface="+mj-ea"/>
                <a:ea typeface="+mj-ea"/>
              </a:rPr>
              <a:t>국내 포토 소재 </a:t>
            </a:r>
            <a:r>
              <a:rPr lang="ko-KR" altLang="en-US" sz="2800" dirty="0" err="1">
                <a:latin typeface="+mj-ea"/>
                <a:ea typeface="+mj-ea"/>
              </a:rPr>
              <a:t>대표주</a:t>
            </a:r>
            <a:endParaRPr lang="en-US" altLang="ko-KR" sz="2800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에스앤에스텍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en-US" altLang="ko-KR" sz="2800" dirty="0"/>
              <a:t>EUV </a:t>
            </a:r>
            <a:r>
              <a:rPr lang="ko-KR" altLang="en-US" sz="2800" dirty="0" err="1"/>
              <a:t>블랭크마스크</a:t>
            </a:r>
            <a:r>
              <a:rPr lang="en-US" altLang="ko-KR" sz="2800" dirty="0"/>
              <a:t>(</a:t>
            </a:r>
            <a:r>
              <a:rPr lang="ko-KR" altLang="en-US" sz="2800" dirty="0"/>
              <a:t>마스크 원판</a:t>
            </a:r>
            <a:r>
              <a:rPr lang="en-US" altLang="ko-KR" sz="2800" dirty="0"/>
              <a:t>). </a:t>
            </a:r>
            <a:r>
              <a:rPr lang="ko-KR" altLang="en-US" sz="2800" dirty="0"/>
              <a:t>일본 </a:t>
            </a:r>
            <a:r>
              <a:rPr lang="en-US" altLang="ko-KR" sz="2800" dirty="0" err="1"/>
              <a:t>Hoya·AGC</a:t>
            </a:r>
            <a:r>
              <a:rPr lang="en-US" altLang="ko-KR" sz="2800" dirty="0"/>
              <a:t> </a:t>
            </a:r>
            <a:r>
              <a:rPr lang="ko-KR" altLang="en-US" sz="2800" dirty="0"/>
              <a:t>독점 구도에 도전</a:t>
            </a:r>
            <a:endParaRPr lang="en-US" altLang="ko-KR" sz="2800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2800" dirty="0">
                <a:latin typeface="+mj-ea"/>
              </a:rPr>
              <a:t> * </a:t>
            </a:r>
            <a:r>
              <a:rPr lang="ko-KR" altLang="en-US" dirty="0"/>
              <a:t>노광장비 원천은 </a:t>
            </a:r>
            <a:r>
              <a:rPr lang="en-US" altLang="ko-KR" dirty="0"/>
              <a:t>ASML(</a:t>
            </a:r>
            <a:r>
              <a:rPr lang="ko-KR" altLang="en-US" dirty="0"/>
              <a:t>네덜란드</a:t>
            </a:r>
            <a:r>
              <a:rPr lang="en-US" altLang="ko-KR" dirty="0"/>
              <a:t>) 100%, </a:t>
            </a:r>
            <a:r>
              <a:rPr lang="ko-KR" altLang="en-US" dirty="0"/>
              <a:t>트랙은 </a:t>
            </a:r>
            <a:r>
              <a:rPr lang="en-US" altLang="ko-KR" dirty="0"/>
              <a:t>TEL(</a:t>
            </a:r>
            <a:r>
              <a:rPr lang="ko-KR" altLang="en-US" dirty="0"/>
              <a:t>일본</a:t>
            </a:r>
            <a:r>
              <a:rPr lang="en-US" altLang="ko-KR" dirty="0"/>
              <a:t>) </a:t>
            </a:r>
            <a:r>
              <a:rPr lang="ko-KR" altLang="en-US" dirty="0"/>
              <a:t>독점</a:t>
            </a:r>
            <a:endParaRPr lang="en-US" altLang="ko-KR" dirty="0"/>
          </a:p>
          <a:p>
            <a:pPr algn="l">
              <a:lnSpc>
                <a:spcPct val="150000"/>
              </a:lnSpc>
            </a:pPr>
            <a:r>
              <a:rPr lang="en-US" altLang="ko-KR" sz="2800" b="1" dirty="0"/>
              <a:t>  * </a:t>
            </a:r>
            <a:r>
              <a:rPr lang="ko-KR" altLang="en-US" b="1" dirty="0"/>
              <a:t>한국은 장비 본체가 아니라 마스크</a:t>
            </a:r>
            <a:r>
              <a:rPr lang="en-US" altLang="ko-KR" b="1" dirty="0"/>
              <a:t>·</a:t>
            </a:r>
            <a:r>
              <a:rPr lang="ko-KR" altLang="en-US" b="1" dirty="0" err="1"/>
              <a:t>펠리클</a:t>
            </a:r>
            <a:r>
              <a:rPr lang="en-US" altLang="ko-KR" b="1" dirty="0"/>
              <a:t>·</a:t>
            </a:r>
            <a:r>
              <a:rPr lang="ko-KR" altLang="en-US" b="1" dirty="0"/>
              <a:t>부품으로 우회 진입</a:t>
            </a:r>
            <a:r>
              <a:rPr lang="ko-KR" altLang="en-US" dirty="0"/>
              <a:t>한 구조</a:t>
            </a:r>
            <a:endParaRPr lang="en-US" altLang="ko-KR" dirty="0">
              <a:latin typeface="+mj-ea"/>
            </a:endParaRPr>
          </a:p>
          <a:p>
            <a:pPr marL="342900" indent="-342900" algn="l" fontAlgn="base">
              <a:lnSpc>
                <a:spcPct val="150000"/>
              </a:lnSpc>
              <a:buFontTx/>
              <a:buChar char="-"/>
            </a:pPr>
            <a:endParaRPr lang="en-US" altLang="ko-KR" sz="2800" dirty="0">
              <a:solidFill>
                <a:srgbClr val="444444"/>
              </a:solidFill>
              <a:latin typeface="+mj-ea"/>
            </a:endParaRPr>
          </a:p>
          <a:p>
            <a:pPr algn="l" fontAlgn="base">
              <a:lnSpc>
                <a:spcPct val="150000"/>
              </a:lnSpc>
            </a:pPr>
            <a:endParaRPr lang="en-US" altLang="ko-KR" sz="2800" dirty="0">
              <a:solidFill>
                <a:srgbClr val="444444"/>
              </a:solidFill>
              <a:latin typeface="+mj-ea"/>
            </a:endParaRPr>
          </a:p>
          <a:p>
            <a:pPr algn="l" fontAlgn="base">
              <a:lnSpc>
                <a:spcPct val="150000"/>
              </a:lnSpc>
            </a:pPr>
            <a:endParaRPr lang="en-US" altLang="ko-KR" sz="2800" dirty="0">
              <a:solidFill>
                <a:srgbClr val="444444"/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2800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799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2186D2C0-BFCB-050B-26A3-C82F49CF99B0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3. </a:t>
            </a:r>
            <a:r>
              <a:rPr lang="ko-KR" altLang="en-US" sz="2800" b="1" dirty="0">
                <a:latin typeface="+mj-ea"/>
                <a:ea typeface="+mj-ea"/>
              </a:rPr>
              <a:t>증착 </a:t>
            </a:r>
            <a:r>
              <a:rPr lang="en-US" altLang="ko-KR" sz="2800" b="1" dirty="0">
                <a:latin typeface="+mj-ea"/>
                <a:ea typeface="+mj-ea"/>
              </a:rPr>
              <a:t>– </a:t>
            </a:r>
            <a:r>
              <a:rPr lang="ko-KR" altLang="en-US" sz="2800" b="1" dirty="0">
                <a:latin typeface="+mj-ea"/>
                <a:ea typeface="+mj-ea"/>
              </a:rPr>
              <a:t>국내 장비의 최대 강점 분야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>
                <a:latin typeface="+mj-ea"/>
                <a:ea typeface="+mj-ea"/>
              </a:rPr>
              <a:t>원익</a:t>
            </a:r>
            <a:r>
              <a:rPr lang="en-US" altLang="ko-KR" sz="2800" b="1" dirty="0">
                <a:latin typeface="+mj-ea"/>
                <a:ea typeface="+mj-ea"/>
              </a:rPr>
              <a:t>IPS: </a:t>
            </a:r>
            <a:r>
              <a:rPr lang="en-US" altLang="ko-KR" sz="2800" dirty="0">
                <a:latin typeface="+mn-ea"/>
              </a:rPr>
              <a:t>ALD·CVD·</a:t>
            </a:r>
            <a:r>
              <a:rPr lang="ko-KR" altLang="en-US" sz="2800" dirty="0">
                <a:latin typeface="+mn-ea"/>
              </a:rPr>
              <a:t>열처리</a:t>
            </a:r>
            <a:r>
              <a:rPr lang="en-US" altLang="ko-KR" sz="2800" dirty="0">
                <a:latin typeface="+mn-ea"/>
              </a:rPr>
              <a:t>. </a:t>
            </a:r>
            <a:r>
              <a:rPr lang="ko-KR" altLang="en-US" sz="2800" dirty="0">
                <a:latin typeface="+mn-ea"/>
              </a:rPr>
              <a:t>삼성전자</a:t>
            </a:r>
            <a:r>
              <a:rPr lang="en-US" altLang="ko-KR" sz="2800" dirty="0">
                <a:latin typeface="+mn-ea"/>
              </a:rPr>
              <a:t>·SK</a:t>
            </a:r>
            <a:r>
              <a:rPr lang="ko-KR" altLang="en-US" sz="2800" dirty="0">
                <a:latin typeface="+mn-ea"/>
              </a:rPr>
              <a:t>하이닉스 </a:t>
            </a:r>
            <a:r>
              <a:rPr lang="en-US" altLang="ko-KR" sz="2800" dirty="0">
                <a:latin typeface="+mn-ea"/>
              </a:rPr>
              <a:t>DRAM </a:t>
            </a:r>
            <a:r>
              <a:rPr lang="ko-KR" altLang="en-US" sz="2800" dirty="0">
                <a:latin typeface="+mn-ea"/>
              </a:rPr>
              <a:t>증착의 핵심 벤더</a:t>
            </a:r>
            <a:r>
              <a:rPr lang="en-US" altLang="ko-KR" sz="2800" dirty="0">
                <a:latin typeface="+mn-ea"/>
              </a:rPr>
              <a:t>. </a:t>
            </a:r>
            <a:r>
              <a:rPr lang="ko-KR" altLang="en-US" sz="2800" dirty="0">
                <a:latin typeface="+mn-ea"/>
              </a:rPr>
              <a:t>디스플레이 장비 병행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>
                <a:latin typeface="+mj-ea"/>
                <a:ea typeface="+mj-ea"/>
              </a:rPr>
              <a:t>주성엔지니어링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en-US" altLang="ko-KR" sz="2800" dirty="0">
                <a:latin typeface="+mn-ea"/>
              </a:rPr>
              <a:t>ALD·CVD </a:t>
            </a:r>
            <a:r>
              <a:rPr lang="ko-KR" altLang="en-US" sz="2800" dirty="0">
                <a:latin typeface="+mn-ea"/>
              </a:rPr>
              <a:t>원천기술</a:t>
            </a:r>
            <a:r>
              <a:rPr lang="en-US" altLang="ko-KR" sz="2800" dirty="0">
                <a:latin typeface="+mn-ea"/>
              </a:rPr>
              <a:t>. </a:t>
            </a:r>
            <a:r>
              <a:rPr lang="ko-KR" altLang="en-US" sz="2800" dirty="0">
                <a:latin typeface="+mn-ea"/>
              </a:rPr>
              <a:t>세계 최초 </a:t>
            </a:r>
            <a:r>
              <a:rPr lang="en-US" altLang="ko-KR" sz="2800" dirty="0">
                <a:latin typeface="+mn-ea"/>
              </a:rPr>
              <a:t>ALD </a:t>
            </a:r>
            <a:r>
              <a:rPr lang="ko-KR" altLang="en-US" sz="2800" dirty="0">
                <a:latin typeface="+mn-ea"/>
              </a:rPr>
              <a:t>양산 적용 주장</a:t>
            </a:r>
            <a:r>
              <a:rPr lang="en-US" altLang="ko-KR" sz="2800" dirty="0">
                <a:latin typeface="+mn-ea"/>
              </a:rPr>
              <a:t>. </a:t>
            </a:r>
            <a:r>
              <a:rPr lang="ko-KR" altLang="en-US" sz="2800" dirty="0">
                <a:latin typeface="+mn-ea"/>
              </a:rPr>
              <a:t>태양전지</a:t>
            </a:r>
            <a:r>
              <a:rPr lang="en-US" altLang="ko-KR" sz="2800" dirty="0">
                <a:latin typeface="+mn-ea"/>
              </a:rPr>
              <a:t>·OLED</a:t>
            </a:r>
            <a:r>
              <a:rPr lang="ko-KR" altLang="en-US" sz="2800" dirty="0">
                <a:latin typeface="+mn-ea"/>
              </a:rPr>
              <a:t>로 사업 다각화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유진테크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en-US" altLang="ko-KR" sz="2800" dirty="0">
                <a:latin typeface="+mn-ea"/>
              </a:rPr>
              <a:t>LPCVD·ALD. </a:t>
            </a:r>
            <a:r>
              <a:rPr lang="ko-KR" altLang="en-US" sz="2800" dirty="0">
                <a:latin typeface="+mn-ea"/>
              </a:rPr>
              <a:t>메모리 </a:t>
            </a:r>
            <a:r>
              <a:rPr lang="en-US" altLang="ko-KR" sz="2800" dirty="0">
                <a:latin typeface="+mn-ea"/>
              </a:rPr>
              <a:t>3D </a:t>
            </a:r>
            <a:r>
              <a:rPr lang="ko-KR" altLang="en-US" sz="2800" dirty="0" err="1">
                <a:latin typeface="+mn-ea"/>
              </a:rPr>
              <a:t>낸드</a:t>
            </a:r>
            <a:r>
              <a:rPr lang="en-US" altLang="ko-KR" sz="2800" dirty="0">
                <a:latin typeface="+mn-ea"/>
              </a:rPr>
              <a:t>·DRAM </a:t>
            </a:r>
            <a:r>
              <a:rPr lang="ko-KR" altLang="en-US" sz="2800" dirty="0">
                <a:latin typeface="+mn-ea"/>
              </a:rPr>
              <a:t>증착 강자</a:t>
            </a:r>
            <a:r>
              <a:rPr lang="en-US" altLang="ko-KR" sz="2800" dirty="0">
                <a:latin typeface="+mn-ea"/>
              </a:rPr>
              <a:t>, </a:t>
            </a:r>
            <a:r>
              <a:rPr lang="ko-KR" altLang="en-US" sz="2800" dirty="0">
                <a:latin typeface="+mn-ea"/>
              </a:rPr>
              <a:t>삼성전자 비중 높음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dirty="0" err="1">
                <a:latin typeface="+mn-ea"/>
              </a:rPr>
              <a:t>브이엠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/>
              <a:t>건식세정 </a:t>
            </a:r>
            <a:r>
              <a:rPr lang="en-US" altLang="ko-KR" sz="2800" dirty="0"/>
              <a:t>+ ALD. </a:t>
            </a:r>
            <a:r>
              <a:rPr lang="ko-KR" altLang="en-US" sz="2800" dirty="0"/>
              <a:t>하이닉스 중심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10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36FCE-0804-2062-83A7-D411A6F9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550BE828-F923-5E2E-3473-48468CB93F5D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3. </a:t>
            </a:r>
            <a:r>
              <a:rPr lang="ko-KR" altLang="en-US" sz="2800" b="1" dirty="0">
                <a:latin typeface="+mj-ea"/>
                <a:ea typeface="+mj-ea"/>
              </a:rPr>
              <a:t>증착 </a:t>
            </a:r>
            <a:r>
              <a:rPr lang="en-US" altLang="ko-KR" sz="2800" b="1" dirty="0">
                <a:latin typeface="+mj-ea"/>
                <a:ea typeface="+mj-ea"/>
              </a:rPr>
              <a:t>– </a:t>
            </a:r>
            <a:r>
              <a:rPr lang="ko-KR" altLang="en-US" sz="2800" b="1" dirty="0">
                <a:latin typeface="+mj-ea"/>
                <a:ea typeface="+mj-ea"/>
              </a:rPr>
              <a:t>국내 장비의 최대 강점 분야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브이엠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건식세정 </a:t>
            </a:r>
            <a:r>
              <a:rPr lang="en-US" altLang="ko-KR" sz="2800" dirty="0">
                <a:latin typeface="+mn-ea"/>
              </a:rPr>
              <a:t>+ ALD. </a:t>
            </a:r>
            <a:r>
              <a:rPr lang="ko-KR" altLang="en-US" sz="2800" dirty="0">
                <a:latin typeface="+mn-ea"/>
              </a:rPr>
              <a:t>하이닉스 중심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테스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건식세정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증착</a:t>
            </a:r>
            <a:r>
              <a:rPr lang="en-US" altLang="ko-KR" sz="2800" dirty="0">
                <a:latin typeface="+mn-ea"/>
              </a:rPr>
              <a:t>·PR </a:t>
            </a:r>
            <a:r>
              <a:rPr lang="ko-KR" altLang="en-US" sz="2800" dirty="0">
                <a:latin typeface="+mn-ea"/>
              </a:rPr>
              <a:t>스트립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latin typeface="+mn-ea"/>
              </a:rPr>
              <a:t>원익</a:t>
            </a:r>
            <a:r>
              <a:rPr lang="en-US" altLang="ko-KR" b="1" dirty="0">
                <a:latin typeface="+mn-ea"/>
              </a:rPr>
              <a:t>IPS·</a:t>
            </a:r>
            <a:r>
              <a:rPr lang="ko-KR" altLang="en-US" b="1" dirty="0">
                <a:latin typeface="+mn-ea"/>
              </a:rPr>
              <a:t>주성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 err="1">
                <a:latin typeface="+mn-ea"/>
              </a:rPr>
              <a:t>유진테크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사가 국내 증착 시장을 사실상 분담하며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메모리 </a:t>
            </a:r>
            <a:r>
              <a:rPr lang="en-US" altLang="ko-KR" dirty="0">
                <a:latin typeface="+mn-ea"/>
              </a:rPr>
              <a:t>3D </a:t>
            </a:r>
            <a:r>
              <a:rPr lang="ko-KR" altLang="en-US" dirty="0">
                <a:latin typeface="+mn-ea"/>
              </a:rPr>
              <a:t>적층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및 </a:t>
            </a:r>
            <a:r>
              <a:rPr lang="en-US" altLang="ko-KR" dirty="0">
                <a:latin typeface="+mn-ea"/>
              </a:rPr>
              <a:t>DRAM </a:t>
            </a:r>
            <a:r>
              <a:rPr lang="ko-KR" altLang="en-US" dirty="0">
                <a:latin typeface="+mn-ea"/>
              </a:rPr>
              <a:t>고도화가 곧 이들의 수주로 직결</a:t>
            </a:r>
            <a:endParaRPr lang="en-US" altLang="ko-KR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n-ea"/>
              </a:rPr>
              <a:t>다만 미국 </a:t>
            </a:r>
            <a:r>
              <a:rPr lang="en-US" altLang="ko-KR" dirty="0">
                <a:latin typeface="+mn-ea"/>
              </a:rPr>
              <a:t>AMAT·</a:t>
            </a:r>
            <a:r>
              <a:rPr lang="ko-KR" altLang="en-US" dirty="0">
                <a:latin typeface="+mn-ea"/>
              </a:rPr>
              <a:t>램리서치의 글로벌 과점은 여전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075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2759B-C5BB-B6EB-9B3C-A412495CB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FC2CF209-439C-B81F-312E-DE69ED962E00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4. </a:t>
            </a:r>
            <a:r>
              <a:rPr lang="ko-KR" altLang="en-US" sz="2800" b="1" dirty="0">
                <a:latin typeface="+mj-ea"/>
                <a:ea typeface="+mj-ea"/>
              </a:rPr>
              <a:t>식각 및 세정</a:t>
            </a:r>
            <a:r>
              <a:rPr lang="en-US" altLang="ko-KR" sz="2800" b="1" dirty="0">
                <a:latin typeface="+mj-ea"/>
                <a:ea typeface="+mj-ea"/>
              </a:rPr>
              <a:t>(Etch /</a:t>
            </a:r>
            <a:r>
              <a:rPr lang="en-US" altLang="ko-KR" sz="2800" b="1" dirty="0" err="1">
                <a:latin typeface="+mj-ea"/>
                <a:ea typeface="+mj-ea"/>
              </a:rPr>
              <a:t>CIean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  <a:r>
              <a:rPr lang="ko-KR" altLang="en-US" sz="2800" b="1" dirty="0">
                <a:latin typeface="+mj-ea"/>
                <a:ea typeface="+mj-ea"/>
              </a:rPr>
              <a:t> 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피에스케이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en-US" altLang="ko-KR" sz="2800" dirty="0">
                <a:latin typeface="+mn-ea"/>
              </a:rPr>
              <a:t>PR </a:t>
            </a:r>
            <a:r>
              <a:rPr lang="ko-KR" altLang="en-US" sz="2800" dirty="0">
                <a:latin typeface="+mn-ea"/>
              </a:rPr>
              <a:t>스트립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 err="1">
                <a:latin typeface="+mn-ea"/>
              </a:rPr>
              <a:t>감광액</a:t>
            </a:r>
            <a:r>
              <a:rPr lang="ko-KR" altLang="en-US" sz="2800" dirty="0">
                <a:latin typeface="+mn-ea"/>
              </a:rPr>
              <a:t> 제거</a:t>
            </a:r>
            <a:r>
              <a:rPr lang="en-US" altLang="ko-KR" sz="2800" dirty="0">
                <a:latin typeface="+mn-ea"/>
              </a:rPr>
              <a:t>) </a:t>
            </a:r>
            <a:r>
              <a:rPr lang="ko-KR" altLang="en-US" sz="2800" dirty="0">
                <a:latin typeface="+mn-ea"/>
              </a:rPr>
              <a:t>세계 </a:t>
            </a:r>
            <a:r>
              <a:rPr lang="en-US" altLang="ko-KR" sz="2800" dirty="0">
                <a:latin typeface="+mn-ea"/>
              </a:rPr>
              <a:t>1</a:t>
            </a:r>
            <a:r>
              <a:rPr lang="ko-KR" altLang="en-US" sz="2800" dirty="0">
                <a:latin typeface="+mn-ea"/>
              </a:rPr>
              <a:t>위권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유니셈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 err="1">
                <a:latin typeface="+mn-ea"/>
              </a:rPr>
              <a:t>스크러버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유해가스 처리</a:t>
            </a:r>
            <a:r>
              <a:rPr lang="en-US" altLang="ko-KR" sz="2800" dirty="0">
                <a:latin typeface="+mn-ea"/>
              </a:rPr>
              <a:t>), </a:t>
            </a:r>
            <a:r>
              <a:rPr lang="ko-KR" altLang="en-US" sz="2800" dirty="0" err="1">
                <a:latin typeface="+mn-ea"/>
              </a:rPr>
              <a:t>칠러</a:t>
            </a:r>
            <a:r>
              <a:rPr lang="ko-KR" altLang="en-US" sz="2800" dirty="0">
                <a:latin typeface="+mn-ea"/>
              </a:rPr>
              <a:t> 등 유틸리티 장비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케이씨텍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습식세정 장비 </a:t>
            </a:r>
            <a:r>
              <a:rPr lang="en-US" altLang="ko-KR" sz="2800" dirty="0">
                <a:latin typeface="+mn-ea"/>
              </a:rPr>
              <a:t>+ CMP +</a:t>
            </a:r>
            <a:r>
              <a:rPr lang="ko-KR" altLang="en-US" sz="2800" dirty="0" err="1">
                <a:latin typeface="+mn-ea"/>
              </a:rPr>
              <a:t>슬러리까지</a:t>
            </a:r>
            <a:r>
              <a:rPr lang="ko-KR" altLang="en-US" sz="2800" dirty="0">
                <a:latin typeface="+mn-ea"/>
              </a:rPr>
              <a:t> 수직계열화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altLang="ko-KR" sz="2800" b="1" dirty="0">
                <a:latin typeface="+mn-ea"/>
              </a:rPr>
              <a:t>GST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 err="1">
                <a:latin typeface="+mn-ea"/>
              </a:rPr>
              <a:t>스크러버</a:t>
            </a:r>
            <a:r>
              <a:rPr lang="en-US" altLang="ko-KR" sz="2800" dirty="0">
                <a:latin typeface="+mn-ea"/>
              </a:rPr>
              <a:t>, </a:t>
            </a:r>
            <a:r>
              <a:rPr lang="ko-KR" altLang="en-US" sz="2800" dirty="0">
                <a:latin typeface="+mn-ea"/>
              </a:rPr>
              <a:t>온도조절장치</a:t>
            </a:r>
            <a:r>
              <a:rPr lang="en-US" altLang="ko-KR" sz="2800" dirty="0">
                <a:latin typeface="+mn-ea"/>
              </a:rPr>
              <a:t>(TMU)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저스템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/>
              <a:t>습도제어장치</a:t>
            </a:r>
            <a:r>
              <a:rPr lang="en-US" altLang="ko-KR" sz="2800" dirty="0"/>
              <a:t>(N₂ </a:t>
            </a:r>
            <a:r>
              <a:rPr lang="ko-KR" altLang="en-US" sz="2800" dirty="0"/>
              <a:t>퍼지</a:t>
            </a:r>
            <a:r>
              <a:rPr lang="en-US" altLang="ko-KR" sz="2800" dirty="0"/>
              <a:t>) — EUV </a:t>
            </a:r>
            <a:r>
              <a:rPr lang="ko-KR" altLang="en-US" sz="2800" dirty="0"/>
              <a:t>공정 필수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45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62BE-09FF-8818-8978-49391EDB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E57B16F9-3ADA-516C-CE36-09AE5F3E314E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5. CMP · </a:t>
            </a:r>
            <a:r>
              <a:rPr lang="ko-KR" altLang="en-US" sz="2800" b="1" dirty="0">
                <a:latin typeface="+mj-ea"/>
                <a:ea typeface="+mj-ea"/>
              </a:rPr>
              <a:t>이온주입 </a:t>
            </a:r>
            <a:r>
              <a:rPr lang="en-US" altLang="ko-KR" sz="2800" b="1" dirty="0">
                <a:latin typeface="+mj-ea"/>
                <a:ea typeface="+mj-ea"/>
              </a:rPr>
              <a:t>· </a:t>
            </a:r>
            <a:r>
              <a:rPr lang="ko-KR" altLang="en-US" sz="2800" b="1" dirty="0">
                <a:latin typeface="+mj-ea"/>
                <a:ea typeface="+mj-ea"/>
              </a:rPr>
              <a:t>열처리 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케이씨텍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국내 유일 </a:t>
            </a:r>
            <a:r>
              <a:rPr lang="en-US" altLang="ko-KR" sz="2800" dirty="0">
                <a:latin typeface="+mn-ea"/>
              </a:rPr>
              <a:t>CMP </a:t>
            </a:r>
            <a:r>
              <a:rPr lang="ko-KR" altLang="en-US" sz="2800" dirty="0">
                <a:latin typeface="+mn-ea"/>
              </a:rPr>
              <a:t>장비 양산</a:t>
            </a:r>
            <a:r>
              <a:rPr lang="en-US" altLang="ko-KR" sz="2800" dirty="0">
                <a:latin typeface="+mn-ea"/>
              </a:rPr>
              <a:t>. AMAT</a:t>
            </a:r>
            <a:r>
              <a:rPr lang="ko-KR" altLang="en-US" sz="2800" dirty="0">
                <a:latin typeface="+mn-ea"/>
              </a:rPr>
              <a:t>가 글로벌 </a:t>
            </a:r>
            <a:r>
              <a:rPr lang="en-US" altLang="ko-KR" sz="2800" dirty="0">
                <a:latin typeface="+mn-ea"/>
              </a:rPr>
              <a:t>1</a:t>
            </a:r>
            <a:r>
              <a:rPr lang="ko-KR" altLang="en-US" sz="2800" dirty="0">
                <a:latin typeface="+mn-ea"/>
              </a:rPr>
              <a:t>위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altLang="ko-KR" sz="2800" b="1" dirty="0">
                <a:latin typeface="+mj-ea"/>
                <a:ea typeface="+mj-ea"/>
              </a:rPr>
              <a:t>HPSP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b="1" dirty="0">
                <a:latin typeface="+mn-ea"/>
              </a:rPr>
              <a:t>고압 수소 </a:t>
            </a:r>
            <a:r>
              <a:rPr lang="ko-KR" altLang="en-US" sz="2800" b="1" dirty="0" err="1">
                <a:latin typeface="+mn-ea"/>
              </a:rPr>
              <a:t>어닐링</a:t>
            </a:r>
            <a:r>
              <a:rPr lang="ko-KR" altLang="en-US" sz="2800" b="1" dirty="0">
                <a:latin typeface="+mn-ea"/>
              </a:rPr>
              <a:t> 장비 세계 </a:t>
            </a:r>
            <a:r>
              <a:rPr lang="en-US" altLang="ko-KR" sz="2800" b="1" dirty="0">
                <a:latin typeface="+mn-ea"/>
              </a:rPr>
              <a:t>1</a:t>
            </a:r>
            <a:r>
              <a:rPr lang="ko-KR" altLang="en-US" sz="2800" b="1" dirty="0">
                <a:latin typeface="+mn-ea"/>
              </a:rPr>
              <a:t>위</a:t>
            </a:r>
            <a:r>
              <a:rPr lang="en-US" altLang="ko-KR" sz="2800" b="1" dirty="0">
                <a:latin typeface="+mn-ea"/>
              </a:rPr>
              <a:t>.</a:t>
            </a:r>
            <a:r>
              <a:rPr lang="ko-KR" altLang="en-US" sz="2800" dirty="0">
                <a:latin typeface="+mn-ea"/>
              </a:rPr>
              <a:t> 삼성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하이닉스</a:t>
            </a:r>
            <a:r>
              <a:rPr lang="en-US" altLang="ko-KR" sz="2800" dirty="0">
                <a:latin typeface="+mn-ea"/>
              </a:rPr>
              <a:t>·TSMC </a:t>
            </a:r>
            <a:r>
              <a:rPr lang="ko-KR" altLang="en-US" sz="2800" dirty="0">
                <a:latin typeface="+mn-ea"/>
              </a:rPr>
              <a:t>납품</a:t>
            </a:r>
            <a:r>
              <a:rPr lang="en-US" altLang="ko-KR" sz="2800" dirty="0">
                <a:latin typeface="+mn-ea"/>
              </a:rPr>
              <a:t>, </a:t>
            </a:r>
            <a:r>
              <a:rPr lang="ko-KR" altLang="en-US" sz="2800" dirty="0">
                <a:latin typeface="+mn-ea"/>
              </a:rPr>
              <a:t>압도적 마진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브이엠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열처리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세정</a:t>
            </a:r>
            <a:r>
              <a:rPr lang="en-US" altLang="ko-KR" sz="2800" dirty="0">
                <a:latin typeface="+mn-ea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9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59906-439F-F99A-7F56-73B74E459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F5BC8DC-7B60-9AD7-6CB2-3D41CAE8658E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6. </a:t>
            </a:r>
            <a:r>
              <a:rPr lang="ko-KR" altLang="en-US" sz="2800" b="1" dirty="0">
                <a:latin typeface="+mj-ea"/>
                <a:ea typeface="+mj-ea"/>
              </a:rPr>
              <a:t>계측</a:t>
            </a:r>
            <a:r>
              <a:rPr lang="en-US" altLang="ko-KR" sz="2800" b="1" dirty="0">
                <a:latin typeface="+mj-ea"/>
                <a:ea typeface="+mj-ea"/>
              </a:rPr>
              <a:t> · </a:t>
            </a:r>
            <a:r>
              <a:rPr lang="ko-KR" altLang="en-US" sz="2800" b="1" dirty="0">
                <a:latin typeface="+mj-ea"/>
                <a:ea typeface="+mj-ea"/>
              </a:rPr>
              <a:t>검사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파크시스템스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산업용 원자현미경</a:t>
            </a:r>
            <a:r>
              <a:rPr lang="en-US" altLang="ko-KR" sz="2800" dirty="0">
                <a:latin typeface="+mn-ea"/>
              </a:rPr>
              <a:t>(AFM). </a:t>
            </a:r>
            <a:r>
              <a:rPr lang="ko-KR" altLang="en-US" sz="2800" dirty="0">
                <a:latin typeface="+mn-ea"/>
              </a:rPr>
              <a:t>글로벌 </a:t>
            </a:r>
            <a:r>
              <a:rPr lang="en-US" altLang="ko-KR" sz="2800" dirty="0">
                <a:latin typeface="+mn-ea"/>
              </a:rPr>
              <a:t>1</a:t>
            </a:r>
            <a:r>
              <a:rPr lang="ko-KR" altLang="en-US" sz="2800" dirty="0">
                <a:latin typeface="+mn-ea"/>
              </a:rPr>
              <a:t>위권</a:t>
            </a:r>
            <a:r>
              <a:rPr lang="en-US" altLang="ko-KR" sz="2800" dirty="0">
                <a:latin typeface="+mn-ea"/>
              </a:rPr>
              <a:t>, </a:t>
            </a:r>
            <a:r>
              <a:rPr lang="ko-KR" altLang="en-US" sz="2800" dirty="0">
                <a:latin typeface="+mn-ea"/>
              </a:rPr>
              <a:t>반도체 </a:t>
            </a:r>
            <a:r>
              <a:rPr lang="ko-KR" altLang="en-US" sz="2800" dirty="0" err="1">
                <a:latin typeface="+mn-ea"/>
              </a:rPr>
              <a:t>나노계측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넥스틴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패턴 결함 검사장비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웨이퍼 표면</a:t>
            </a:r>
            <a:r>
              <a:rPr lang="en-US" altLang="ko-KR" sz="2800" dirty="0">
                <a:latin typeface="+mn-ea"/>
              </a:rPr>
              <a:t>, </a:t>
            </a:r>
            <a:r>
              <a:rPr lang="ko-KR" altLang="en-US" sz="2800" dirty="0">
                <a:latin typeface="+mn-ea"/>
              </a:rPr>
              <a:t>패턴</a:t>
            </a:r>
            <a:r>
              <a:rPr lang="en-US" altLang="ko-KR" sz="2800" dirty="0">
                <a:latin typeface="+mn-ea"/>
              </a:rPr>
              <a:t>) 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dirty="0" err="1">
                <a:latin typeface="+mn-ea"/>
              </a:rPr>
              <a:t>오로스테크놀로지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오버레이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정렬도</a:t>
            </a:r>
            <a:r>
              <a:rPr lang="en-US" altLang="ko-KR" sz="2800" dirty="0">
                <a:latin typeface="+mn-ea"/>
              </a:rPr>
              <a:t>) </a:t>
            </a:r>
            <a:r>
              <a:rPr lang="ko-KR" altLang="en-US" sz="2800" dirty="0">
                <a:latin typeface="+mn-ea"/>
              </a:rPr>
              <a:t>계측</a:t>
            </a:r>
            <a:r>
              <a:rPr lang="en-US" altLang="ko-KR" sz="2800" dirty="0">
                <a:latin typeface="+mn-ea"/>
              </a:rPr>
              <a:t>-</a:t>
            </a:r>
            <a:r>
              <a:rPr lang="ko-KR" altLang="en-US" sz="2800" dirty="0">
                <a:latin typeface="+mn-ea"/>
              </a:rPr>
              <a:t>국내 유일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n-ea"/>
              </a:rPr>
              <a:t>계측은 </a:t>
            </a:r>
            <a:r>
              <a:rPr lang="en-US" altLang="ko-KR" b="1" dirty="0">
                <a:latin typeface="+mn-ea"/>
              </a:rPr>
              <a:t>KLA</a:t>
            </a:r>
            <a:r>
              <a:rPr lang="ko-KR" altLang="en-US" b="1" dirty="0">
                <a:latin typeface="+mn-ea"/>
              </a:rPr>
              <a:t>가 글로벌 매출 과반</a:t>
            </a:r>
            <a:r>
              <a:rPr lang="ko-KR" altLang="en-US" dirty="0">
                <a:latin typeface="+mn-ea"/>
              </a:rPr>
              <a:t>을 쥔 최대 독과점 구간</a:t>
            </a:r>
            <a:endParaRPr lang="en-US" altLang="ko-KR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n-ea"/>
              </a:rPr>
              <a:t>한국은 오버레이</a:t>
            </a:r>
            <a:r>
              <a:rPr lang="en-US" altLang="ko-KR" dirty="0">
                <a:latin typeface="+mn-ea"/>
              </a:rPr>
              <a:t>·AFM·</a:t>
            </a:r>
            <a:r>
              <a:rPr lang="ko-KR" altLang="en-US" dirty="0">
                <a:latin typeface="+mn-ea"/>
              </a:rPr>
              <a:t>결함검사 같은 틈새에서 국산화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50000"/>
              </a:lnSpc>
            </a:pP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64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55E7-6D05-C181-9F94-8B7EDBE9D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AF6FDAA-AC2A-CD56-9CDA-517B815EC434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7. </a:t>
            </a:r>
            <a:r>
              <a:rPr lang="ko-KR" altLang="en-US" sz="2800" b="1" dirty="0" err="1">
                <a:latin typeface="+mj-ea"/>
                <a:ea typeface="+mj-ea"/>
              </a:rPr>
              <a:t>후공정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ko-KR" altLang="en-US" sz="2800" b="1" dirty="0">
                <a:latin typeface="+mj-ea"/>
                <a:ea typeface="+mj-ea"/>
              </a:rPr>
              <a:t>패키징</a:t>
            </a:r>
            <a:r>
              <a:rPr lang="en-US" altLang="ko-KR" sz="2800" b="1" dirty="0">
                <a:latin typeface="+mj-ea"/>
                <a:ea typeface="+mj-ea"/>
              </a:rPr>
              <a:t>,</a:t>
            </a:r>
            <a:r>
              <a:rPr lang="ko-KR" altLang="en-US" sz="2800" b="1" dirty="0">
                <a:latin typeface="+mj-ea"/>
                <a:ea typeface="+mj-ea"/>
              </a:rPr>
              <a:t>테스트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  <a:r>
              <a:rPr lang="ko-KR" altLang="en-US" sz="2800" b="1" dirty="0">
                <a:latin typeface="+mj-ea"/>
                <a:ea typeface="+mj-ea"/>
              </a:rPr>
              <a:t> </a:t>
            </a:r>
            <a:r>
              <a:rPr lang="en-US" altLang="ko-KR" sz="2800" b="1" dirty="0">
                <a:latin typeface="+mj-ea"/>
                <a:ea typeface="+mj-ea"/>
              </a:rPr>
              <a:t>– HBM</a:t>
            </a:r>
            <a:r>
              <a:rPr lang="ko-KR" altLang="en-US" sz="2800" b="1" dirty="0">
                <a:latin typeface="+mj-ea"/>
                <a:ea typeface="+mj-ea"/>
              </a:rPr>
              <a:t> 관련기업 다수 포진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>
                <a:latin typeface="+mj-ea"/>
                <a:ea typeface="+mj-ea"/>
              </a:rPr>
              <a:t>한미반도체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en-US" altLang="ko-KR" sz="2800" b="1" dirty="0">
                <a:latin typeface="+mn-ea"/>
              </a:rPr>
              <a:t>HBM TC</a:t>
            </a:r>
            <a:r>
              <a:rPr lang="ko-KR" altLang="en-US" sz="2800" b="1" dirty="0" err="1">
                <a:latin typeface="+mn-ea"/>
              </a:rPr>
              <a:t>본더</a:t>
            </a:r>
            <a:r>
              <a:rPr lang="ko-KR" altLang="en-US" sz="2800" b="1" dirty="0">
                <a:latin typeface="+mn-ea"/>
              </a:rPr>
              <a:t> </a:t>
            </a:r>
            <a:r>
              <a:rPr lang="ko-KR" altLang="en-US" sz="2800" b="1" dirty="0" err="1">
                <a:latin typeface="+mn-ea"/>
              </a:rPr>
              <a:t>대표주</a:t>
            </a:r>
            <a:r>
              <a:rPr lang="en-US" altLang="ko-KR" sz="2800" b="1" dirty="0">
                <a:latin typeface="+mn-ea"/>
              </a:rPr>
              <a:t>.</a:t>
            </a:r>
            <a:r>
              <a:rPr lang="ko-KR" altLang="en-US" sz="2800" dirty="0">
                <a:latin typeface="+mn-ea"/>
              </a:rPr>
              <a:t> </a:t>
            </a:r>
            <a:r>
              <a:rPr lang="en-US" altLang="ko-KR" sz="2800" dirty="0">
                <a:latin typeface="+mn-ea"/>
              </a:rPr>
              <a:t>SK</a:t>
            </a:r>
            <a:r>
              <a:rPr lang="ko-KR" altLang="en-US" sz="2800" dirty="0">
                <a:latin typeface="+mn-ea"/>
              </a:rPr>
              <a:t>하이닉스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 err="1">
                <a:latin typeface="+mn-ea"/>
              </a:rPr>
              <a:t>마이크론향</a:t>
            </a:r>
            <a:r>
              <a:rPr lang="en-US" altLang="ko-KR" sz="2800" dirty="0">
                <a:latin typeface="+mn-ea"/>
              </a:rPr>
              <a:t>. </a:t>
            </a:r>
            <a:r>
              <a:rPr lang="ko-KR" altLang="en-US" sz="2800" dirty="0" err="1">
                <a:latin typeface="+mn-ea"/>
              </a:rPr>
              <a:t>비전플레이스먼트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칩 정렬</a:t>
            </a:r>
            <a:r>
              <a:rPr lang="en-US" altLang="ko-KR" sz="2800" dirty="0">
                <a:latin typeface="+mn-ea"/>
              </a:rPr>
              <a:t>) </a:t>
            </a:r>
            <a:r>
              <a:rPr lang="ko-KR" altLang="en-US" sz="2800" dirty="0">
                <a:latin typeface="+mn-ea"/>
              </a:rPr>
              <a:t>포함</a:t>
            </a:r>
            <a:r>
              <a:rPr lang="en-US" altLang="ko-KR" sz="2800" dirty="0">
                <a:latin typeface="+mn-ea"/>
              </a:rPr>
              <a:t>, 2.5D </a:t>
            </a:r>
            <a:r>
              <a:rPr lang="ko-KR" altLang="en-US" sz="2800" dirty="0" err="1">
                <a:latin typeface="+mn-ea"/>
              </a:rPr>
              <a:t>본딩</a:t>
            </a:r>
            <a:r>
              <a:rPr lang="ko-KR" altLang="en-US" sz="2800" dirty="0">
                <a:latin typeface="+mn-ea"/>
              </a:rPr>
              <a:t> 장비 납품 시작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이오테크닉스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레이저 </a:t>
            </a:r>
            <a:r>
              <a:rPr lang="ko-KR" altLang="en-US" sz="2800" dirty="0" err="1">
                <a:latin typeface="+mn-ea"/>
              </a:rPr>
              <a:t>그루빙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마킹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 err="1">
                <a:latin typeface="+mn-ea"/>
              </a:rPr>
              <a:t>어닐링</a:t>
            </a:r>
            <a:r>
              <a:rPr lang="en-US" altLang="ko-KR" sz="2800" dirty="0">
                <a:latin typeface="+mn-ea"/>
              </a:rPr>
              <a:t>. </a:t>
            </a:r>
            <a:r>
              <a:rPr lang="ko-KR" altLang="en-US" sz="2800" dirty="0" err="1">
                <a:latin typeface="+mn-ea"/>
              </a:rPr>
              <a:t>후공정</a:t>
            </a:r>
            <a:r>
              <a:rPr lang="ko-KR" altLang="en-US" sz="2800" dirty="0">
                <a:latin typeface="+mn-ea"/>
              </a:rPr>
              <a:t> 레이저 국내 </a:t>
            </a:r>
            <a:r>
              <a:rPr lang="en-US" altLang="ko-KR" sz="2800" dirty="0">
                <a:latin typeface="+mn-ea"/>
              </a:rPr>
              <a:t>1</a:t>
            </a:r>
            <a:r>
              <a:rPr lang="ko-KR" altLang="en-US" sz="2800" dirty="0">
                <a:latin typeface="+mn-ea"/>
              </a:rPr>
              <a:t>위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리노공업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 err="1"/>
              <a:t>프로브핀</a:t>
            </a:r>
            <a:r>
              <a:rPr lang="en-US" altLang="ko-KR" sz="2800" dirty="0"/>
              <a:t>·</a:t>
            </a:r>
            <a:r>
              <a:rPr lang="ko-KR" altLang="en-US" sz="2800" dirty="0"/>
              <a:t>테스트 소켓</a:t>
            </a:r>
            <a:r>
              <a:rPr lang="en-US" altLang="ko-KR" sz="2800" dirty="0"/>
              <a:t>·</a:t>
            </a:r>
            <a:r>
              <a:rPr lang="ko-KR" altLang="en-US" sz="2800" dirty="0" err="1"/>
              <a:t>포고핀</a:t>
            </a:r>
            <a:r>
              <a:rPr lang="en-US" altLang="ko-KR" sz="2800" dirty="0"/>
              <a:t>. </a:t>
            </a:r>
            <a:r>
              <a:rPr lang="ko-KR" altLang="en-US" sz="2800" dirty="0"/>
              <a:t>초고마진</a:t>
            </a:r>
            <a:endParaRPr lang="en-US" altLang="ko-KR" sz="2800" dirty="0"/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티에스이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 err="1">
                <a:latin typeface="+mn-ea"/>
              </a:rPr>
              <a:t>프로브카드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테스트 소켓</a:t>
            </a:r>
            <a:r>
              <a:rPr lang="en-US" altLang="ko-KR" sz="2800" dirty="0">
                <a:latin typeface="+mn-ea"/>
              </a:rPr>
              <a:t>. HBM·DDR5 </a:t>
            </a:r>
            <a:r>
              <a:rPr lang="ko-KR" altLang="en-US" sz="2800" dirty="0">
                <a:latin typeface="+mn-ea"/>
              </a:rPr>
              <a:t>테스트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11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5DDFA-722B-0822-FA58-48583B522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596ED091-6584-3953-A6B1-9C852A3CA347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7. </a:t>
            </a:r>
            <a:r>
              <a:rPr lang="ko-KR" altLang="en-US" sz="2800" b="1" dirty="0" err="1">
                <a:latin typeface="+mj-ea"/>
                <a:ea typeface="+mj-ea"/>
              </a:rPr>
              <a:t>후공정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ko-KR" altLang="en-US" sz="2800" b="1" dirty="0">
                <a:latin typeface="+mj-ea"/>
                <a:ea typeface="+mj-ea"/>
              </a:rPr>
              <a:t>패키징</a:t>
            </a:r>
            <a:r>
              <a:rPr lang="en-US" altLang="ko-KR" sz="2800" b="1" dirty="0">
                <a:latin typeface="+mj-ea"/>
                <a:ea typeface="+mj-ea"/>
              </a:rPr>
              <a:t>,</a:t>
            </a:r>
            <a:r>
              <a:rPr lang="ko-KR" altLang="en-US" sz="2800" b="1" dirty="0">
                <a:latin typeface="+mj-ea"/>
                <a:ea typeface="+mj-ea"/>
              </a:rPr>
              <a:t>테스트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  <a:r>
              <a:rPr lang="ko-KR" altLang="en-US" sz="2800" b="1" dirty="0">
                <a:latin typeface="+mj-ea"/>
                <a:ea typeface="+mj-ea"/>
              </a:rPr>
              <a:t> </a:t>
            </a:r>
            <a:r>
              <a:rPr lang="en-US" altLang="ko-KR" sz="2800" b="1" dirty="0">
                <a:latin typeface="+mj-ea"/>
                <a:ea typeface="+mj-ea"/>
              </a:rPr>
              <a:t>– HBM</a:t>
            </a:r>
            <a:r>
              <a:rPr lang="ko-KR" altLang="en-US" sz="2800" b="1" dirty="0">
                <a:latin typeface="+mj-ea"/>
                <a:ea typeface="+mj-ea"/>
              </a:rPr>
              <a:t> 관련기업 다수 포진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테크윙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테스트 </a:t>
            </a:r>
            <a:r>
              <a:rPr lang="ko-KR" altLang="en-US" sz="2800" dirty="0" err="1">
                <a:latin typeface="+mn-ea"/>
              </a:rPr>
              <a:t>핸들러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큐브 </a:t>
            </a:r>
            <a:r>
              <a:rPr lang="ko-KR" altLang="en-US" sz="2800" dirty="0" err="1">
                <a:latin typeface="+mn-ea"/>
              </a:rPr>
              <a:t>프로버</a:t>
            </a:r>
            <a:r>
              <a:rPr lang="en-US" altLang="ko-KR" sz="2800" dirty="0">
                <a:latin typeface="+mn-ea"/>
              </a:rPr>
              <a:t>)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유니테스트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메모리 테스트 장비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번인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웨이퍼 테스트</a:t>
            </a:r>
            <a:r>
              <a:rPr lang="en-US" altLang="ko-KR" sz="2800" dirty="0">
                <a:latin typeface="+mn-ea"/>
              </a:rPr>
              <a:t>)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엑시콘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메모리 테스트 장비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보드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네오셈</a:t>
            </a:r>
            <a:r>
              <a:rPr lang="en-US" altLang="ko-KR" sz="2800" dirty="0">
                <a:latin typeface="+mn-ea"/>
              </a:rPr>
              <a:t>: SSD·</a:t>
            </a:r>
            <a:r>
              <a:rPr lang="ko-KR" altLang="en-US" sz="2800" dirty="0">
                <a:latin typeface="+mn-ea"/>
              </a:rPr>
              <a:t>메모리 테스트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에이디테크놀로지</a:t>
            </a:r>
            <a:r>
              <a:rPr lang="en-US" altLang="ko-KR" sz="2800" dirty="0">
                <a:latin typeface="+mn-ea"/>
              </a:rPr>
              <a:t>: HBM·</a:t>
            </a:r>
            <a:r>
              <a:rPr lang="ko-KR" altLang="en-US" sz="2800" dirty="0">
                <a:latin typeface="+mn-ea"/>
              </a:rPr>
              <a:t>패키징 테스트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>
                <a:latin typeface="+mn-ea"/>
              </a:rPr>
              <a:t>제우스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진공로봇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장비 부품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47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77AB-42C2-5AB4-5C41-A7C3DEE40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AD6D63A5-BF7E-7FBD-9D41-4F27CE11E767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8. </a:t>
            </a:r>
            <a:r>
              <a:rPr lang="ko-KR" altLang="en-US" sz="2800" b="1" dirty="0">
                <a:latin typeface="+mj-ea"/>
                <a:ea typeface="+mj-ea"/>
              </a:rPr>
              <a:t>소재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솔브레인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dirty="0" err="1">
                <a:latin typeface="+mn-ea"/>
              </a:rPr>
              <a:t>식각액</a:t>
            </a:r>
            <a:r>
              <a:rPr lang="en-US" altLang="ko-KR" dirty="0">
                <a:latin typeface="+mn-ea"/>
              </a:rPr>
              <a:t>·CMP </a:t>
            </a:r>
            <a:r>
              <a:rPr lang="ko-KR" altLang="en-US" dirty="0" err="1">
                <a:latin typeface="+mn-ea"/>
              </a:rPr>
              <a:t>슬러리</a:t>
            </a:r>
            <a:r>
              <a:rPr lang="en-US" altLang="ko-KR" dirty="0">
                <a:latin typeface="+mn-ea"/>
              </a:rPr>
              <a:t>·</a:t>
            </a:r>
            <a:r>
              <a:rPr lang="ko-KR" altLang="en-US" dirty="0" err="1">
                <a:latin typeface="+mn-ea"/>
              </a:rPr>
              <a:t>전구체</a:t>
            </a:r>
            <a:r>
              <a:rPr lang="en-US" altLang="ko-KR" dirty="0">
                <a:latin typeface="+mn-ea"/>
              </a:rPr>
              <a:t>·PR. </a:t>
            </a:r>
            <a:r>
              <a:rPr lang="ko-KR" altLang="en-US" dirty="0">
                <a:latin typeface="+mn-ea"/>
              </a:rPr>
              <a:t>반도체 소재 최대 기업</a:t>
            </a:r>
            <a:endParaRPr lang="en-US" altLang="ko-KR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동진쎄미켐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dirty="0" err="1">
                <a:latin typeface="+mn-ea"/>
              </a:rPr>
              <a:t>포토레지스트</a:t>
            </a:r>
            <a:r>
              <a:rPr lang="en-US" altLang="ko-KR" dirty="0">
                <a:latin typeface="+mn-ea"/>
              </a:rPr>
              <a:t>(PR)·</a:t>
            </a:r>
            <a:r>
              <a:rPr lang="ko-KR" altLang="en-US" dirty="0" err="1">
                <a:latin typeface="+mn-ea"/>
              </a:rPr>
              <a:t>식각액</a:t>
            </a:r>
            <a:r>
              <a:rPr lang="en-US" altLang="ko-KR" dirty="0">
                <a:latin typeface="+mn-ea"/>
              </a:rPr>
              <a:t>. EUV PR </a:t>
            </a:r>
            <a:r>
              <a:rPr lang="ko-KR" altLang="en-US" dirty="0">
                <a:latin typeface="+mn-ea"/>
              </a:rPr>
              <a:t>국산화 진행</a:t>
            </a:r>
            <a:endParaRPr lang="en-US" altLang="ko-KR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한솔케미칼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과산화수소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세정용</a:t>
            </a:r>
            <a:r>
              <a:rPr lang="en-US" altLang="ko-KR" sz="2800" dirty="0">
                <a:latin typeface="+mn-ea"/>
              </a:rPr>
              <a:t>)·</a:t>
            </a:r>
            <a:r>
              <a:rPr lang="ko-KR" altLang="en-US" sz="2800" dirty="0" err="1">
                <a:latin typeface="+mn-ea"/>
              </a:rPr>
              <a:t>프리커서</a:t>
            </a:r>
            <a:r>
              <a:rPr lang="en-US" altLang="ko-KR" sz="2800" dirty="0">
                <a:latin typeface="+mn-ea"/>
              </a:rPr>
              <a:t>·QD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이엔에프테크놀로지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 err="1"/>
              <a:t>식각액</a:t>
            </a:r>
            <a:r>
              <a:rPr lang="en-US" altLang="ko-KR" sz="2800" dirty="0"/>
              <a:t>·</a:t>
            </a:r>
            <a:r>
              <a:rPr lang="ko-KR" altLang="en-US" sz="2800" dirty="0"/>
              <a:t>현상액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원익머티리얼즈</a:t>
            </a:r>
            <a:r>
              <a:rPr lang="en-US" altLang="ko-KR" sz="2800" dirty="0">
                <a:latin typeface="+mn-ea"/>
              </a:rPr>
              <a:t>: NF₃ </a:t>
            </a:r>
            <a:r>
              <a:rPr lang="ko-KR" altLang="en-US" sz="2800" dirty="0">
                <a:latin typeface="+mn-ea"/>
              </a:rPr>
              <a:t>등 특수가스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후성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불산 계열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특수가스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sz="2800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455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76F3-7039-5F10-DF16-157E45427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BF3622EA-20B7-B332-6906-4E75C22C69C8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9. </a:t>
            </a:r>
            <a:r>
              <a:rPr lang="ko-KR" altLang="en-US" sz="2800" b="1" dirty="0">
                <a:latin typeface="+mj-ea"/>
                <a:ea typeface="+mj-ea"/>
              </a:rPr>
              <a:t>부품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ko-KR" altLang="en-US" sz="2800" b="1" dirty="0">
                <a:latin typeface="+mj-ea"/>
                <a:ea typeface="+mj-ea"/>
              </a:rPr>
              <a:t>서브시스템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>
                <a:latin typeface="+mj-ea"/>
                <a:ea typeface="+mj-ea"/>
              </a:rPr>
              <a:t>원익</a:t>
            </a:r>
            <a:r>
              <a:rPr lang="en-US" altLang="ko-KR" sz="2800" b="1" dirty="0" err="1">
                <a:latin typeface="+mj-ea"/>
                <a:ea typeface="+mj-ea"/>
              </a:rPr>
              <a:t>QnC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sz="2800" dirty="0" err="1">
                <a:latin typeface="+mn-ea"/>
              </a:rPr>
              <a:t>쿼츠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세라믹 부품</a:t>
            </a:r>
            <a:r>
              <a:rPr lang="en-US" altLang="ko-KR" sz="2800" dirty="0">
                <a:latin typeface="+mn-ea"/>
              </a:rPr>
              <a:t>. </a:t>
            </a:r>
            <a:r>
              <a:rPr lang="ko-KR" altLang="en-US" sz="2800" dirty="0">
                <a:latin typeface="+mn-ea"/>
              </a:rPr>
              <a:t>국내 부품 최대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하나머티리얼즈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en-US" altLang="ko-KR" sz="2800" dirty="0" err="1">
                <a:latin typeface="+mn-ea"/>
              </a:rPr>
              <a:t>SiC</a:t>
            </a:r>
            <a:r>
              <a:rPr lang="en-US" altLang="ko-KR" sz="2800" dirty="0">
                <a:latin typeface="+mn-ea"/>
              </a:rPr>
              <a:t> </a:t>
            </a:r>
            <a:r>
              <a:rPr lang="ko-KR" altLang="en-US" sz="2800" dirty="0">
                <a:latin typeface="+mn-ea"/>
              </a:rPr>
              <a:t>코팅 부품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 err="1">
                <a:latin typeface="+mn-ea"/>
              </a:rPr>
              <a:t>쿼츠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티씨케이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en-US" altLang="ko-KR" sz="2800" dirty="0" err="1">
                <a:latin typeface="+mn-ea"/>
              </a:rPr>
              <a:t>SiC</a:t>
            </a:r>
            <a:r>
              <a:rPr lang="en-US" altLang="ko-KR" sz="2800" dirty="0">
                <a:latin typeface="+mn-ea"/>
              </a:rPr>
              <a:t> </a:t>
            </a:r>
            <a:r>
              <a:rPr lang="ko-KR" altLang="en-US" sz="2800" dirty="0">
                <a:latin typeface="+mn-ea"/>
              </a:rPr>
              <a:t>링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전극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히터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월덱스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 err="1"/>
              <a:t>쿼츠</a:t>
            </a:r>
            <a:r>
              <a:rPr lang="en-US" altLang="ko-KR" sz="2800" dirty="0"/>
              <a:t>·</a:t>
            </a:r>
            <a:r>
              <a:rPr lang="ko-KR" altLang="en-US" sz="2800" dirty="0"/>
              <a:t>실리콘 부품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코미코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부품 세정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코팅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리사이클</a:t>
            </a:r>
            <a:r>
              <a:rPr lang="en-US" altLang="ko-KR" sz="2800" dirty="0">
                <a:latin typeface="+mn-ea"/>
              </a:rPr>
              <a:t>)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altLang="ko-KR" sz="2800" b="1" dirty="0">
                <a:latin typeface="+mn-ea"/>
              </a:rPr>
              <a:t>GST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유틸리티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온도제어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sz="2800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133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5883-DA22-0885-C16A-DE442C09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BBADA344-EB76-A4C9-4BFF-87C6AB8CBB8C}"/>
              </a:ext>
            </a:extLst>
          </p:cNvPr>
          <p:cNvSpPr txBox="1">
            <a:spLocks/>
          </p:cNvSpPr>
          <p:nvPr/>
        </p:nvSpPr>
        <p:spPr>
          <a:xfrm>
            <a:off x="855677" y="721453"/>
            <a:ext cx="10142290" cy="582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10. </a:t>
            </a:r>
            <a:r>
              <a:rPr lang="ko-KR" altLang="en-US" sz="2800" b="1" dirty="0" err="1">
                <a:latin typeface="+mj-ea"/>
                <a:ea typeface="+mj-ea"/>
              </a:rPr>
              <a:t>클린품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ko-KR" altLang="en-US" sz="2800" b="1" dirty="0">
                <a:latin typeface="+mj-ea"/>
                <a:ea typeface="+mj-ea"/>
              </a:rPr>
              <a:t>물류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ko-KR" altLang="en-US" sz="2800" b="1" dirty="0">
                <a:latin typeface="+mj-ea"/>
                <a:ea typeface="+mj-ea"/>
              </a:rPr>
              <a:t>인프라</a:t>
            </a:r>
            <a:endParaRPr lang="en-US" altLang="ko-KR" sz="2800" b="1" dirty="0">
              <a:latin typeface="+mj-ea"/>
              <a:ea typeface="+mj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에스에프에이</a:t>
            </a:r>
            <a:r>
              <a:rPr lang="en-US" altLang="ko-KR" sz="2800" b="1" dirty="0">
                <a:latin typeface="+mj-ea"/>
                <a:ea typeface="+mj-ea"/>
              </a:rPr>
              <a:t>: </a:t>
            </a:r>
            <a:r>
              <a:rPr lang="ko-KR" altLang="en-US" sz="2800" dirty="0" err="1">
                <a:latin typeface="+mn-ea"/>
              </a:rPr>
              <a:t>클린물류</a:t>
            </a:r>
            <a:r>
              <a:rPr lang="ko-KR" altLang="en-US" sz="2800" dirty="0">
                <a:latin typeface="+mn-ea"/>
              </a:rPr>
              <a:t> 자동화</a:t>
            </a:r>
            <a:r>
              <a:rPr lang="en-US" altLang="ko-KR" sz="2800" dirty="0">
                <a:latin typeface="+mn-ea"/>
              </a:rPr>
              <a:t>. </a:t>
            </a:r>
            <a:r>
              <a:rPr lang="ko-KR" altLang="en-US" sz="2800" dirty="0">
                <a:latin typeface="+mn-ea"/>
              </a:rPr>
              <a:t>삼성 계열</a:t>
            </a:r>
            <a:r>
              <a:rPr lang="en-US" altLang="ko-KR" sz="2800" dirty="0">
                <a:latin typeface="+mn-ea"/>
              </a:rPr>
              <a:t>, </a:t>
            </a:r>
            <a:r>
              <a:rPr lang="ko-KR" altLang="en-US" sz="2800" dirty="0">
                <a:latin typeface="+mn-ea"/>
              </a:rPr>
              <a:t>국내 </a:t>
            </a:r>
            <a:r>
              <a:rPr lang="en-US" altLang="ko-KR" sz="2800" dirty="0">
                <a:latin typeface="+mn-ea"/>
              </a:rPr>
              <a:t>1</a:t>
            </a:r>
            <a:r>
              <a:rPr lang="ko-KR" altLang="en-US" sz="2800" dirty="0">
                <a:latin typeface="+mn-ea"/>
              </a:rPr>
              <a:t>위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에스티아이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n-ea"/>
              </a:rPr>
              <a:t>습식장비 </a:t>
            </a:r>
            <a:r>
              <a:rPr lang="en-US" altLang="ko-KR" sz="2800" dirty="0">
                <a:latin typeface="+mn-ea"/>
              </a:rPr>
              <a:t>+ </a:t>
            </a:r>
            <a:r>
              <a:rPr lang="ko-KR" altLang="en-US" sz="2800" dirty="0">
                <a:latin typeface="+mn-ea"/>
              </a:rPr>
              <a:t>케미컬 중앙공급장치</a:t>
            </a:r>
            <a:r>
              <a:rPr lang="en-US" altLang="ko-KR" sz="2800" dirty="0">
                <a:latin typeface="+mn-ea"/>
              </a:rPr>
              <a:t>(CCSS)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j-ea"/>
                <a:ea typeface="+mj-ea"/>
              </a:rPr>
              <a:t>신성이엔지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 err="1">
                <a:latin typeface="+mn-ea"/>
              </a:rPr>
              <a:t>클린룸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공조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태양광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ko-KR" altLang="en-US" sz="2800" b="1" dirty="0" err="1">
                <a:latin typeface="+mn-ea"/>
              </a:rPr>
              <a:t>서플러스글로벌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장비 유통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 err="1">
                <a:latin typeface="+mn-ea"/>
              </a:rPr>
              <a:t>리퍼비시</a:t>
            </a:r>
            <a:r>
              <a:rPr lang="en-US" altLang="ko-KR" sz="2800" dirty="0">
                <a:latin typeface="+mn-ea"/>
              </a:rPr>
              <a:t>·</a:t>
            </a:r>
            <a:r>
              <a:rPr lang="ko-KR" altLang="en-US" sz="2800" dirty="0">
                <a:latin typeface="+mn-ea"/>
              </a:rPr>
              <a:t>부품</a:t>
            </a:r>
            <a:endParaRPr lang="en-US" altLang="ko-KR" sz="2800" dirty="0">
              <a:latin typeface="+mn-ea"/>
            </a:endParaRPr>
          </a:p>
          <a:p>
            <a:pPr algn="l">
              <a:lnSpc>
                <a:spcPct val="150000"/>
              </a:lnSpc>
            </a:pPr>
            <a:endParaRPr lang="en-US" altLang="ko-KR" sz="28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ko-KR" sz="2800" dirty="0">
                <a:latin typeface="+mj-ea"/>
                <a:ea typeface="+mj-ea"/>
              </a:rPr>
              <a:t> </a:t>
            </a:r>
          </a:p>
          <a:p>
            <a:pPr algn="l">
              <a:lnSpc>
                <a:spcPct val="10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endParaRPr lang="en-US" altLang="ko-KR" sz="2800" dirty="0">
              <a:latin typeface="+mj-ea"/>
              <a:ea typeface="+mj-ea"/>
            </a:endParaRPr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en-US" altLang="ko-KR" sz="3200" dirty="0"/>
          </a:p>
          <a:p>
            <a:pPr marL="514350" indent="-514350" algn="l">
              <a:lnSpc>
                <a:spcPct val="200000"/>
              </a:lnSpc>
              <a:buAutoNum type="arabicParenR"/>
            </a:pPr>
            <a:endParaRPr lang="ko-KR" altLang="en-US" sz="3200" dirty="0"/>
          </a:p>
          <a:p>
            <a:pPr marL="457200" indent="-457200" algn="l">
              <a:lnSpc>
                <a:spcPct val="200000"/>
              </a:lnSpc>
              <a:buFontTx/>
              <a:buChar char="-"/>
            </a:pPr>
            <a:endParaRPr lang="ko-KR" altLang="en-US" sz="3200" dirty="0"/>
          </a:p>
          <a:p>
            <a:pPr algn="l">
              <a:lnSpc>
                <a:spcPct val="150000"/>
              </a:lnSpc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927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07BB5B-2884-6238-F022-DF9BC474CB3A}"/>
              </a:ext>
            </a:extLst>
          </p:cNvPr>
          <p:cNvSpPr txBox="1"/>
          <p:nvPr/>
        </p:nvSpPr>
        <p:spPr>
          <a:xfrm>
            <a:off x="796412" y="189058"/>
            <a:ext cx="11017045" cy="611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투자 관점 </a:t>
            </a:r>
            <a:r>
              <a:rPr lang="en-US" altLang="ko-KR" sz="2400" b="1" dirty="0">
                <a:solidFill>
                  <a:srgbClr val="000000"/>
                </a:solidFill>
                <a:effectLst/>
                <a:latin typeface="+mn-ea"/>
              </a:rPr>
              <a:t>5</a:t>
            </a: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가지 요약</a:t>
            </a:r>
            <a:endParaRPr lang="en-US" altLang="ko-KR" sz="2400" b="1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 증착이 국내 장비의 중심축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원익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IPS·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주성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·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유진테크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. 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메모리 투자 사이클에 가장 민감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 독점 기술 프리미엄</a:t>
            </a:r>
            <a:r>
              <a:rPr lang="en-US" altLang="ko-KR" sz="2400" b="1" dirty="0">
                <a:solidFill>
                  <a:srgbClr val="000000"/>
                </a:solidFill>
                <a:effectLst/>
                <a:latin typeface="+mn-ea"/>
              </a:rPr>
              <a:t>3</a:t>
            </a: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선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HPSP ,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파크시스템스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(AFM),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리노공업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프로브핀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). 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마진이 압도적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solidFill>
                  <a:srgbClr val="000000"/>
                </a:solidFill>
                <a:effectLst/>
                <a:latin typeface="+mn-ea"/>
              </a:rPr>
              <a:t> HBM </a:t>
            </a: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최대 수혜</a:t>
            </a:r>
            <a:r>
              <a:rPr lang="en-US" altLang="ko-KR" sz="2400" b="1" dirty="0"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한미반도체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·HPSP·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리노공업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·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티에스이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. AI 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서버 수요가 곧 이들의 매출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 국산화 스토리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</a:rPr>
              <a:t>: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에프에스티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·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에스앤에스텍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포토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), 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오로스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·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넥스틴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계측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), 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케이씨텍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(CMP). 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정책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·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고객사 국산화 이후 상용화 진행 중</a:t>
            </a:r>
            <a:endParaRPr lang="en-US" altLang="ko-KR" sz="240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노광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(ASML)·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트랙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(TEL)·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계측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(KLA)·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테스트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2400" dirty="0" err="1">
                <a:solidFill>
                  <a:srgbClr val="000000"/>
                </a:solidFill>
                <a:effectLst/>
                <a:latin typeface="+mn-ea"/>
              </a:rPr>
              <a:t>테라다인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)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는 글로벌 과점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. </a:t>
            </a:r>
            <a:r>
              <a:rPr lang="ko-KR" altLang="en-US" sz="2400" dirty="0">
                <a:solidFill>
                  <a:srgbClr val="000000"/>
                </a:solidFill>
                <a:effectLst/>
                <a:latin typeface="+mn-ea"/>
              </a:rPr>
              <a:t>한국은 여기서 아직 소수 지분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3207596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10827</TotalTime>
  <Words>852</Words>
  <Application>Microsoft Office PowerPoint</Application>
  <PresentationFormat>와이드스크린</PresentationFormat>
  <Paragraphs>179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권희 이</cp:lastModifiedBy>
  <cp:revision>76</cp:revision>
  <dcterms:created xsi:type="dcterms:W3CDTF">2024-07-31T13:34:07Z</dcterms:created>
  <dcterms:modified xsi:type="dcterms:W3CDTF">2026-09-20T13:01:44Z</dcterms:modified>
</cp:coreProperties>
</file>